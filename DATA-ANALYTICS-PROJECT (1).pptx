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Arimo" panose="020B0604020202020204" charset="0"/>
      <p:regular r:id="rId14"/>
    </p:embeddedFont>
    <p:embeddedFont>
      <p:font typeface="Arimo Bold" panose="020B0604020202020204" charset="0"/>
      <p:regular r:id="rId15"/>
    </p:embeddedFont>
    <p:embeddedFont>
      <p:font typeface="Outfit Extra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h Palavalasa" userId="ae9cef93b649eb84" providerId="LiveId" clId="{AE4F61C9-EC6B-4E09-A2CD-2ACEB5562202}"/>
    <pc:docChg chg="modSld">
      <pc:chgData name="Ganesh Palavalasa" userId="ae9cef93b649eb84" providerId="LiveId" clId="{AE4F61C9-EC6B-4E09-A2CD-2ACEB5562202}" dt="2026-08-14T03:55:05.531" v="1" actId="20577"/>
      <pc:docMkLst>
        <pc:docMk/>
      </pc:docMkLst>
      <pc:sldChg chg="modSp mod">
        <pc:chgData name="Ganesh Palavalasa" userId="ae9cef93b649eb84" providerId="LiveId" clId="{AE4F61C9-EC6B-4E09-A2CD-2ACEB5562202}" dt="2026-08-14T03:55:05.531" v="1" actId="20577"/>
        <pc:sldMkLst>
          <pc:docMk/>
          <pc:sldMk cId="0" sldId="256"/>
        </pc:sldMkLst>
        <pc:spChg chg="mod">
          <ac:chgData name="Ganesh Palavalasa" userId="ae9cef93b649eb84" providerId="LiveId" clId="{AE4F61C9-EC6B-4E09-A2CD-2ACEB5562202}" dt="2026-08-14T03:55:05.531" v="1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27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8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3782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ANALYTICS PROJECT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504083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NIKE SALES DATA ANALYSIS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082826"/>
            <a:ext cx="6296860" cy="1937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From raw sales records to clear business insights — Data inspection, cleaning, processing, EDA, and visualization.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Team: P. Ganesh · G. Sai Kumar · T. Indravathi · S. Jyothirmayi · M. Anjali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Course: Data Analytics · Tools: Python, Pandas, NumPy, Matplotlib, Seaborn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44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01 • Project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4307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project transforms Nike sales records into reliable business insights to answer: revenue performance, product demand, regional performance, and channel contribution. Initial dataset: 2,500 rows × 13 columns befDataset snapshot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360539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Rows: 2,500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Columns: 13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Sales channels: 2 (Online, Retail)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Product lines: 5 (Soccer, Basketball, Running, Lifestyle, Training)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98107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fields: Order_ID, Product_Line, Product_Name, Units_Sold, MRP, Revenue, Order_Date, Sales_Channel, Region, Profit.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939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02 • Data Quality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2345035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assessed completeness, validity and consistency before analysis. Quality checks determine the trustworthiness of all downstream KPIs.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2663031"/>
            <a:ext cx="5381193" cy="805061"/>
          </a:xfrm>
          <a:prstGeom prst="roundRect">
            <a:avLst>
              <a:gd name="adj" fmla="val 7396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205" y="2823766"/>
            <a:ext cx="50597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Dataset size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205" y="3108920"/>
            <a:ext cx="505973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2,500 ×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48928" y="2663031"/>
            <a:ext cx="5381292" cy="805061"/>
          </a:xfrm>
          <a:prstGeom prst="roundRect">
            <a:avLst>
              <a:gd name="adj" fmla="val 7396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659" y="2823766"/>
            <a:ext cx="50598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Duplicates found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659" y="3108920"/>
            <a:ext cx="50598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 (removed where present)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1475" y="3574355"/>
            <a:ext cx="5381193" cy="1003498"/>
          </a:xfrm>
          <a:prstGeom prst="roundRect">
            <a:avLst>
              <a:gd name="adj" fmla="val 5933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205" y="3735090"/>
            <a:ext cx="50597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205" y="4020245"/>
            <a:ext cx="505973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Size: 510 entries; Units_Sold: 0 after handling; Other fields affected: MRP, Discount_Applied, Order_Date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8928" y="3574355"/>
            <a:ext cx="5381292" cy="1003498"/>
          </a:xfrm>
          <a:prstGeom prst="roundRect">
            <a:avLst>
              <a:gd name="adj" fmla="val 5933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659" y="3735090"/>
            <a:ext cx="50598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Label inconsistencies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659" y="4020245"/>
            <a:ext cx="50598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Region names (Bengaluru/Bangalore, Hyderabad variants) required standardization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475" y="4697413"/>
            <a:ext cx="10868745" cy="471190"/>
          </a:xfrm>
          <a:prstGeom prst="roundRect">
            <a:avLst>
              <a:gd name="adj" fmla="val 12636"/>
            </a:avLst>
          </a:prstGeom>
          <a:solidFill>
            <a:srgbClr val="D7D2F9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4854773"/>
            <a:ext cx="177200" cy="1416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22037" y="4839097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Cleaning choices (e.g., drop vs impute) materially change the interpretation of Units_Sold and derived metrics — document assumptions.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38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03 • Preparation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6250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Five practical steps were applied to produce an analysis-ready dataset. These steps ensure consistency and enable time-based trend analysis.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7997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775843"/>
            <a:ext cx="3496877" cy="2540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92109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01 • Remove duplicates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32978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drop_duplicates() to avoid double-counting orders.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7359" y="247997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2775843"/>
            <a:ext cx="3496877" cy="2540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0" name="Text 8"/>
          <p:cNvSpPr/>
          <p:nvPr/>
        </p:nvSpPr>
        <p:spPr>
          <a:xfrm>
            <a:off x="4347359" y="292109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02 • Handle missing values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347359" y="332978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dropna() for irrecoverable rows; targeted imputation where appropriate.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33244" y="247997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33244" y="2775843"/>
            <a:ext cx="3496877" cy="2540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4" name="Text 12"/>
          <p:cNvSpPr/>
          <p:nvPr/>
        </p:nvSpPr>
        <p:spPr>
          <a:xfrm>
            <a:off x="8033244" y="292109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03 • Fix date type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33244" y="3329781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pd.to_datetime(..., format='mixed') to standardize Order_Date for time-series analysis.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1475" y="456773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863604"/>
            <a:ext cx="5339820" cy="2540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5008860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04 • Standardize text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5417542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strip(), title() and rule-based mapping to unify Region and Product names.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90301" y="456773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4863604"/>
            <a:ext cx="5339820" cy="2540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301" y="5008860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05 • Engineer features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190301" y="5417542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Created Discount_Value; extracted Month, Month_Name, and Year for trend and seasonality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16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04 • Key Performance Indicators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3030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12566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Revenue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534345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427,503.51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93030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12566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Profit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534345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164,980.86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93030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12566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Units (post-cleaning)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53434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201 (note: many rows removed due to missing Units_Sold)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523555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371891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Online Revenue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127599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225,888.17 (52.8% share)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3523555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371891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Retail Revenue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127599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201,615.34 (47.2% share)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483800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B6D6FC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105698"/>
            <a:ext cx="236234" cy="1890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5723" y="507424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Interpret Units_Sold cautiously — low post-cleaning count reflects conservative missing-value handling. Consider alternate imputation for operational metrics.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0841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05 • Monthly Revenue Trend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282527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Highlights:</a:t>
            </a: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September highest revenue: 61,029.27 — October lowest: 17,526.84. Revenue exhibits pronounced month-to-month volatility, suggesting seasonality or campaign-driven spikes.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402409"/>
            <a:ext cx="3053877" cy="2047180"/>
          </a:xfrm>
          <a:prstGeom prst="roundRect">
            <a:avLst>
              <a:gd name="adj" fmla="val 3878"/>
            </a:avLst>
          </a:prstGeom>
          <a:solidFill>
            <a:srgbClr val="FAFAFA">
              <a:alpha val="95000"/>
            </a:srgbClr>
          </a:solidFill>
          <a:ln w="25399">
            <a:solidFill>
              <a:srgbClr val="BDB8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5881" y="3616821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4025503"/>
            <a:ext cx="26250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Investigate promotions, stockouts, or channel shifts around Sep–Oct to explain volatility.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3402409"/>
            <a:ext cx="3053976" cy="2047180"/>
          </a:xfrm>
          <a:prstGeom prst="roundRect">
            <a:avLst>
              <a:gd name="adj" fmla="val 3878"/>
            </a:avLst>
          </a:prstGeom>
          <a:solidFill>
            <a:srgbClr val="FAFAFA">
              <a:alpha val="95000"/>
            </a:srgbClr>
          </a:solidFill>
          <a:ln w="25399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8765" y="3616821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Next step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118765" y="4025503"/>
            <a:ext cx="2625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Overlay marketing calendar and inventory levels to attribute causes.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253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06 • Top Products by Revenue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10" y="1990824"/>
            <a:ext cx="6565736" cy="3693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7270" y="1770162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Top performers (revenue)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017270" y="2221210"/>
            <a:ext cx="3519201" cy="959545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LeBron 20 — 42,527.70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Flex Trainer — 41,692.48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ZoomX Invincible — ~39,000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17270" y="3334246"/>
            <a:ext cx="351920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These SKUs drive a disproportionate share of revenue. Review pricing, stock, and cross-sell opportunities for these items.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17270" y="4366419"/>
            <a:ext cx="3519201" cy="1517055"/>
          </a:xfrm>
          <a:prstGeom prst="roundRect">
            <a:avLst>
              <a:gd name="adj" fmla="val 4971"/>
            </a:avLst>
          </a:prstGeom>
          <a:solidFill>
            <a:srgbClr val="D7D2F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752" y="4627959"/>
            <a:ext cx="224427" cy="179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00661" y="4564757"/>
            <a:ext cx="2756327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Consider margin analysis per SKU to prioritize inventory and promotions based on profit, not revenue alone.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43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07 • Revenue by Region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2" y="1461889"/>
            <a:ext cx="6227408" cy="3528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189" y="2378174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insight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2189" y="2796977"/>
            <a:ext cx="3534282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Kolkata leads with 100,534.03. Significant differences exist across cities — inconsistent region labels (e.g., Hyderabad variants) must be standardized to avoid misleading comparisons.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5335290"/>
            <a:ext cx="10868745" cy="994271"/>
          </a:xfrm>
          <a:prstGeom prst="roundRect">
            <a:avLst>
              <a:gd name="adj" fmla="val 7186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581" y="5524401"/>
            <a:ext cx="1049053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Recommendation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0581" y="5881886"/>
            <a:ext cx="10490533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Apply canonical region mapping and re-run regional KPIs; then prioritize high-revenue cities for local promotions and inventory.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38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08 • Profit &amp; Channel Diagnostics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30586"/>
            <a:ext cx="4070744" cy="40708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2792214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Profit by product line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199726" y="3276501"/>
            <a:ext cx="6336745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Soccer: 48,098.18 (highest) · Basketball: 42,415.01 · Running: 28,077.19 · Lifestyle: 27,101.28 · Training: 19,289.20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Channel mix is roughly balanced with an online tilt. Combine channel-level margin and fulfillment cost to identify the most profitable distribution strategy.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760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09 • Conclusion &amp; Recommendations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46287"/>
            <a:ext cx="3561170" cy="1284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8978" y="2197596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88978" y="2459831"/>
            <a:ext cx="3182362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Nike sales show strong overall revenue performance, with a clear product and regional concentration. The analysis highlights meaningful differences in profitability, channel efficiency, and market demand.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5213" y="2046287"/>
            <a:ext cx="3561170" cy="12847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42716" y="2197596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Revenue &amp; products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42716" y="2459831"/>
            <a:ext cx="3182362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Revenue is led by a few top-performing product lines, while lower-performing categories offer upside through pricing, promotion, or assortment optimization.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8951" y="2046287"/>
            <a:ext cx="3561170" cy="12847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96454" y="2197596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Regions &amp; channels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196454" y="2459831"/>
            <a:ext cx="3182362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Performance varies by region and distribution channel, suggesting that growth can be improved by focusing investment on the strongest markets and the most efficient sales paths.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61475" y="3435251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61475" y="3640931"/>
            <a:ext cx="5388039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4" name="Text 9"/>
          <p:cNvSpPr/>
          <p:nvPr/>
        </p:nvSpPr>
        <p:spPr>
          <a:xfrm>
            <a:off x="661475" y="3745111"/>
            <a:ext cx="53880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Prioritize best-selling products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61475" y="4007346"/>
            <a:ext cx="538803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Increase inventory and marketing support for the strongest product lines while reviewing weaker items for repositioning or reduction.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142082" y="3435251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42082" y="3640931"/>
            <a:ext cx="5388138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8" name="Text 13"/>
          <p:cNvSpPr/>
          <p:nvPr/>
        </p:nvSpPr>
        <p:spPr>
          <a:xfrm>
            <a:off x="6142082" y="3745111"/>
            <a:ext cx="538813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Optimize regional strategy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42082" y="4007346"/>
            <a:ext cx="538813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Double down on high-performing regions and tailor campaigns to the needs and purchasing behavior of each market.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61475" y="455910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61475" y="4764782"/>
            <a:ext cx="10868745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22" name="Text 17"/>
          <p:cNvSpPr/>
          <p:nvPr/>
        </p:nvSpPr>
        <p:spPr>
          <a:xfrm>
            <a:off x="661475" y="4868962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Improve channel profitability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61475" y="5131197"/>
            <a:ext cx="10868745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Balance online and retail execution by comparing margin, fulfillment cost, and conversion efficiency across channels.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1336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Thank You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877</Words>
  <Application>Microsoft Office PowerPoint</Application>
  <PresentationFormat>Widescreen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Outfit ExtraBold</vt:lpstr>
      <vt:lpstr>Arial</vt:lpstr>
      <vt:lpstr>Arimo Bold</vt:lpstr>
      <vt:lpstr>Arimo</vt:lpstr>
      <vt:lpstr>Outfit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Ganesh Palavalasa</cp:lastModifiedBy>
  <cp:revision>2</cp:revision>
  <dcterms:created xsi:type="dcterms:W3CDTF">2026-08-14T03:46:25Z</dcterms:created>
  <dcterms:modified xsi:type="dcterms:W3CDTF">2026-08-14T03:55:09Z</dcterms:modified>
</cp:coreProperties>
</file>