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dalavalasa anjali" userId="d7d7448b8a63c028" providerId="LiveId" clId="{5D45ABC6-AA9D-43B8-ACEC-946656E65F4A}"/>
    <pc:docChg chg="modSld">
      <pc:chgData name="modalavalasa anjali" userId="d7d7448b8a63c028" providerId="LiveId" clId="{5D45ABC6-AA9D-43B8-ACEC-946656E65F4A}" dt="2026-08-12T05:09:29.413" v="8" actId="14100"/>
      <pc:docMkLst>
        <pc:docMk/>
      </pc:docMkLst>
      <pc:sldChg chg="modSp mod">
        <pc:chgData name="modalavalasa anjali" userId="d7d7448b8a63c028" providerId="LiveId" clId="{5D45ABC6-AA9D-43B8-ACEC-946656E65F4A}" dt="2026-08-12T05:08:51.082" v="2" actId="14100"/>
        <pc:sldMkLst>
          <pc:docMk/>
          <pc:sldMk cId="0" sldId="262"/>
        </pc:sldMkLst>
        <pc:picChg chg="mod">
          <ac:chgData name="modalavalasa anjali" userId="d7d7448b8a63c028" providerId="LiveId" clId="{5D45ABC6-AA9D-43B8-ACEC-946656E65F4A}" dt="2026-08-12T05:08:51.082" v="2" actId="14100"/>
          <ac:picMkLst>
            <pc:docMk/>
            <pc:sldMk cId="0" sldId="262"/>
            <ac:picMk id="4" creationId="{00000000-0000-0000-0000-000000000000}"/>
          </ac:picMkLst>
        </pc:picChg>
      </pc:sldChg>
      <pc:sldChg chg="modSp mod">
        <pc:chgData name="modalavalasa anjali" userId="d7d7448b8a63c028" providerId="LiveId" clId="{5D45ABC6-AA9D-43B8-ACEC-946656E65F4A}" dt="2026-08-12T05:09:29.413" v="8" actId="14100"/>
        <pc:sldMkLst>
          <pc:docMk/>
          <pc:sldMk cId="0" sldId="263"/>
        </pc:sldMkLst>
        <pc:picChg chg="mod">
          <ac:chgData name="modalavalasa anjali" userId="d7d7448b8a63c028" providerId="LiveId" clId="{5D45ABC6-AA9D-43B8-ACEC-946656E65F4A}" dt="2026-08-12T05:09:29.413" v="8" actId="14100"/>
          <ac:picMkLst>
            <pc:docMk/>
            <pc:sldMk cId="0" sldId="263"/>
            <ac:picMk id="4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6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141414"/>
                </a:solidFill>
              </a:defRPr>
            </a:pPr>
            <a:r>
              <a:t>NIKE SALES DATA</a:t>
            </a:r>
            <a:br/>
            <a:r>
              <a:t>ANALYSIS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92608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D2D2D"/>
                </a:solidFill>
              </a:defRPr>
            </a:pPr>
            <a:r>
              <a:t>Data Inspection • Data Cleaning • Processing • EDA •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48920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696969"/>
                </a:solidFill>
              </a:defRPr>
            </a:pPr>
            <a:r>
              <a:t>P. Ganesh • S. Sai Kumar • T. Indravathi • S. Jyothirmayi • M. Anjali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55321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Course: Data Analytics  |  Tools: Python, Pandas, NumPy, Matplotlib, Seaborn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414"/>
                </a:solidFill>
              </a:defRPr>
            </a:pPr>
            <a:r>
              <a:t>1.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Business context, dataset structure and analytical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• Objective: transform raw Nike sales records into reliable business insights.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• Business questions: revenue performance, product demand, regional performance and sales-channel contribution.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• Dataset size: 2,500 rows and 13 columns before cleaning.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• Key fields include Order_ID, Product_Line, Product_Name, Units_Sold, MRP, Revenue, Order_Date, Sales_Channel, Region and Profit.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1234440"/>
            <a:ext cx="4846320" cy="44805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41414"/>
                </a:solidFill>
              </a:defRPr>
            </a:pPr>
            <a:r>
              <a:t>Dataset Snapshot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</a:defRPr>
            </a:pPr>
            <a:r>
              <a:t>• Rows: 2,500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</a:defRPr>
            </a:pPr>
            <a:r>
              <a:t>• Columns: 13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</a:defRPr>
            </a:pPr>
            <a:r>
              <a:t>• Categorical fields: 7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</a:defRPr>
            </a:pPr>
            <a:r>
              <a:t>• Numeric fields: 6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</a:defRPr>
            </a:pPr>
            <a:r>
              <a:t>• Sales channels: Online, Retail</a:t>
            </a:r>
          </a:p>
          <a:p>
            <a:pPr>
              <a:spcAft>
                <a:spcPts val="700"/>
              </a:spcAft>
              <a:defRPr sz="1500">
                <a:solidFill>
                  <a:srgbClr val="2D2D2D"/>
                </a:solidFill>
              </a:defRPr>
            </a:pPr>
            <a:r>
              <a:t>• Product lines: Soccer, Basketball, Running, Lifestyle,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07040" y="6547104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414"/>
                </a:solidFill>
              </a:defRPr>
            </a:pPr>
            <a:r>
              <a:t>2. Data Inspection &amp; Quality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The notebook checks completeness, validity and consistency before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2331720" cy="109728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96969"/>
                </a:solidFill>
              </a:defRPr>
            </a:pPr>
            <a:r>
              <a:t>Dataset Size</a:t>
            </a:r>
          </a:p>
          <a:p>
            <a:pPr algn="ctr">
              <a:defRPr sz="2400" b="1">
                <a:solidFill>
                  <a:srgbClr val="141414"/>
                </a:solidFill>
              </a:defRPr>
            </a:pPr>
            <a:r>
              <a:t>2,500 × 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1143000"/>
            <a:ext cx="2331720" cy="109728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96969"/>
                </a:solidFill>
              </a:defRPr>
            </a:pPr>
            <a:r>
              <a:t>Duplicate Rows</a:t>
            </a:r>
          </a:p>
          <a:p>
            <a:pPr algn="ctr">
              <a:defRPr sz="2400" b="1">
                <a:solidFill>
                  <a:srgbClr val="141414"/>
                </a:solidFill>
              </a:defRPr>
            </a:pPr>
            <a:r>
              <a:t>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06440" y="1143000"/>
            <a:ext cx="2331720" cy="109728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96969"/>
                </a:solidFill>
              </a:defRPr>
            </a:pPr>
            <a:r>
              <a:t>Missing Size</a:t>
            </a:r>
          </a:p>
          <a:p>
            <a:pPr algn="ctr">
              <a:defRPr sz="2400" b="1">
                <a:solidFill>
                  <a:srgbClr val="141414"/>
                </a:solidFill>
              </a:defRPr>
            </a:pPr>
            <a:r>
              <a:t>510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1143000"/>
            <a:ext cx="2331720" cy="109728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96969"/>
                </a:solidFill>
              </a:defRPr>
            </a:pPr>
            <a:r>
              <a:t>Missing Units</a:t>
            </a:r>
          </a:p>
          <a:p>
            <a:pPr algn="ctr">
              <a:defRPr sz="2400" b="1">
                <a:solidFill>
                  <a:srgbClr val="141414"/>
                </a:solidFill>
              </a:defRPr>
            </a:pPr>
            <a:r>
              <a:t>1,235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10424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• Missing values were present in Size, Units_Sold, MRP, Discount_Applied and Order_Date.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• Order_Date appeared in mixed formats and was initially stored as object/text.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• Region labels were inconsistent: Bengaluru/Bangalore and Hyderabad/Hyderbad/Hyd.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</a:defRPr>
            </a:pPr>
            <a:r>
              <a:t>• The notebook also checked for negative Units_Sold, invalid MRP values and negative Profit.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07040" y="6547104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414"/>
                </a:solidFill>
              </a:defRPr>
            </a:pPr>
            <a:r>
              <a:t>3. Data Cleaning &amp;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Preparing the dataset for reliable business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1828800" cy="347472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63C3C"/>
                </a:solidFill>
              </a:defRPr>
            </a:pPr>
            <a:r>
              <a:t>1</a:t>
            </a:r>
          </a:p>
          <a:p>
            <a:pPr algn="ctr">
              <a:defRPr sz="1500" b="1">
                <a:solidFill>
                  <a:srgbClr val="141414"/>
                </a:solidFill>
              </a:defRPr>
            </a:pPr>
            <a:r>
              <a:t>Remove duplicates</a:t>
            </a:r>
          </a:p>
          <a:p>
            <a:pPr algn="ctr">
              <a:defRPr sz="1000">
                <a:solidFill>
                  <a:srgbClr val="696969"/>
                </a:solidFill>
              </a:defRPr>
            </a:pPr>
            <a:r>
              <a:t>drop_duplicates()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417320"/>
            <a:ext cx="1828800" cy="347472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63C3C"/>
                </a:solidFill>
              </a:defRPr>
            </a:pPr>
            <a:r>
              <a:t>2</a:t>
            </a:r>
          </a:p>
          <a:p>
            <a:pPr algn="ctr">
              <a:defRPr sz="1500" b="1">
                <a:solidFill>
                  <a:srgbClr val="141414"/>
                </a:solidFill>
              </a:defRPr>
            </a:pPr>
            <a:r>
              <a:t>Handle missing values</a:t>
            </a:r>
          </a:p>
          <a:p>
            <a:pPr algn="ctr">
              <a:defRPr sz="1000">
                <a:solidFill>
                  <a:srgbClr val="696969"/>
                </a:solidFill>
              </a:defRPr>
            </a:pPr>
            <a:r>
              <a:t>dropna()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1417320"/>
            <a:ext cx="1828800" cy="347472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63C3C"/>
                </a:solidFill>
              </a:defRPr>
            </a:pPr>
            <a:r>
              <a:t>3</a:t>
            </a:r>
          </a:p>
          <a:p>
            <a:pPr algn="ctr">
              <a:defRPr sz="1500" b="1">
                <a:solidFill>
                  <a:srgbClr val="141414"/>
                </a:solidFill>
              </a:defRPr>
            </a:pPr>
            <a:r>
              <a:t>Fix date type</a:t>
            </a:r>
          </a:p>
          <a:p>
            <a:pPr algn="ctr">
              <a:defRPr sz="1000">
                <a:solidFill>
                  <a:srgbClr val="696969"/>
                </a:solidFill>
              </a:defRPr>
            </a:pPr>
            <a:r>
              <a:t>pd.to_datetime(..., format='mixed')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417320"/>
            <a:ext cx="1828800" cy="347472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63C3C"/>
                </a:solidFill>
              </a:defRPr>
            </a:pPr>
            <a:r>
              <a:t>4</a:t>
            </a:r>
          </a:p>
          <a:p>
            <a:pPr algn="ctr">
              <a:defRPr sz="1500" b="1">
                <a:solidFill>
                  <a:srgbClr val="141414"/>
                </a:solidFill>
              </a:defRPr>
            </a:pPr>
            <a:r>
              <a:t>Standardize text</a:t>
            </a:r>
          </a:p>
          <a:p>
            <a:pPr algn="ctr">
              <a:defRPr sz="1000">
                <a:solidFill>
                  <a:srgbClr val="696969"/>
                </a:solidFill>
              </a:defRPr>
            </a:pPr>
            <a:r>
              <a:t>strip() + title()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784080" y="1417320"/>
            <a:ext cx="1828800" cy="347472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E63C3C"/>
                </a:solidFill>
              </a:defRPr>
            </a:pPr>
            <a:r>
              <a:t>5</a:t>
            </a:r>
          </a:p>
          <a:p>
            <a:pPr algn="ctr">
              <a:defRPr sz="1500" b="1">
                <a:solidFill>
                  <a:srgbClr val="141414"/>
                </a:solidFill>
              </a:defRPr>
            </a:pPr>
            <a:r>
              <a:t>Engineer features</a:t>
            </a:r>
          </a:p>
          <a:p>
            <a:pPr algn="ctr">
              <a:defRPr sz="1000">
                <a:solidFill>
                  <a:srgbClr val="696969"/>
                </a:solidFill>
              </a:defRPr>
            </a:pPr>
            <a:r>
              <a:t>Discount_Value, Month,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D2D2D"/>
                </a:solidFill>
              </a:defRPr>
            </a:pPr>
            <a:r>
              <a:t>Feature engineering created Discount_Value and extracted Month, Month_Name and Year for trend analysis.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607040" y="6547104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414"/>
                </a:solidFill>
              </a:defRPr>
            </a:pPr>
            <a:r>
              <a:t>4. Key Performance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Headline results from the cleaned analysis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08760"/>
            <a:ext cx="3017520" cy="15087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96969"/>
                </a:solidFill>
              </a:defRPr>
            </a:pPr>
            <a:r>
              <a:t>Total Revenue</a:t>
            </a:r>
          </a:p>
          <a:p>
            <a:pPr algn="ctr">
              <a:defRPr sz="2400" b="1">
                <a:solidFill>
                  <a:srgbClr val="141414"/>
                </a:solidFill>
              </a:defRPr>
            </a:pPr>
            <a:r>
              <a:t>427,503.51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508760"/>
            <a:ext cx="3017520" cy="15087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96969"/>
                </a:solidFill>
              </a:defRPr>
            </a:pPr>
            <a:r>
              <a:t>Total Profit</a:t>
            </a:r>
          </a:p>
          <a:p>
            <a:pPr algn="ctr">
              <a:defRPr sz="2400" b="1">
                <a:solidFill>
                  <a:srgbClr val="141414"/>
                </a:solidFill>
              </a:defRPr>
            </a:pPr>
            <a:r>
              <a:t>164,980.86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508760"/>
            <a:ext cx="3017520" cy="15087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96969"/>
                </a:solidFill>
              </a:defRPr>
            </a:pPr>
            <a:r>
              <a:t>Units Sold</a:t>
            </a:r>
          </a:p>
          <a:p>
            <a:pPr algn="ctr">
              <a:defRPr sz="2400" b="1">
                <a:solidFill>
                  <a:srgbClr val="141414"/>
                </a:solidFill>
              </a:defRPr>
            </a:pPr>
            <a:r>
              <a:t>201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657600"/>
            <a:ext cx="3017520" cy="15087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96969"/>
                </a:solidFill>
              </a:defRPr>
            </a:pPr>
            <a:r>
              <a:t>Online Revenue</a:t>
            </a:r>
          </a:p>
          <a:p>
            <a:pPr algn="ctr">
              <a:defRPr sz="2400" b="1">
                <a:solidFill>
                  <a:srgbClr val="141414"/>
                </a:solidFill>
              </a:defRPr>
            </a:pPr>
            <a:r>
              <a:t>225,888.17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657600"/>
            <a:ext cx="3017520" cy="15087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96969"/>
                </a:solidFill>
              </a:defRPr>
            </a:pPr>
            <a:r>
              <a:t>Retail Revenue</a:t>
            </a:r>
          </a:p>
          <a:p>
            <a:pPr algn="ctr">
              <a:defRPr sz="2400" b="1">
                <a:solidFill>
                  <a:srgbClr val="141414"/>
                </a:solidFill>
              </a:defRPr>
            </a:pPr>
            <a:r>
              <a:t>201,615.34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657600"/>
            <a:ext cx="3017520" cy="1508760"/>
          </a:xfrm>
          <a:prstGeom prst="round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96969"/>
                </a:solidFill>
              </a:defRPr>
            </a:pPr>
            <a:r>
              <a:t>Online Share</a:t>
            </a:r>
          </a:p>
          <a:p>
            <a:pPr algn="ctr">
              <a:defRPr sz="2400" b="1">
                <a:solidFill>
                  <a:srgbClr val="141414"/>
                </a:solidFill>
              </a:defRPr>
            </a:pPr>
            <a:r>
              <a:t>52.8%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96969"/>
                </a:solidFill>
              </a:defRPr>
            </a:pPr>
            <a:r>
              <a:t>Note: Units_Sold is only 201 after missing-value removal, so this metric should be interpreted together with the cleaning decision.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07040" y="6547104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414"/>
                </a:solidFill>
              </a:defRPr>
            </a:pPr>
            <a:r>
              <a:t>5. Monthly Revenue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Line chart generated in the notebook</a:t>
            </a:r>
          </a:p>
        </p:txBody>
      </p:sp>
      <p:pic>
        <p:nvPicPr>
          <p:cNvPr id="4" name="Picture 3" descr="monthly_revenue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143000"/>
            <a:ext cx="9875520" cy="53554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88720" y="5806440"/>
            <a:ext cx="9692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</a:defRPr>
            </a:pPr>
            <a:r>
              <a:t>Highest month: September (61,029.27)  |  Lowest month: October (17,526.84)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07040" y="6547104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414"/>
                </a:solidFill>
              </a:defRPr>
            </a:pPr>
            <a:r>
              <a:t>6. Top 10 Products by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Bar chart generated from Product_Name × Revenue aggregation</a:t>
            </a:r>
          </a:p>
        </p:txBody>
      </p:sp>
      <p:pic>
        <p:nvPicPr>
          <p:cNvPr id="4" name="Picture 3" descr="top_products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0817352" cy="51526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71500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</a:defRPr>
            </a:pPr>
            <a:r>
              <a:t>Top performer: LeBron 20 (42,527.70), followed closely by Flex Trainer (41,692.48).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07040" y="6547104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414"/>
                </a:solidFill>
              </a:defRPr>
            </a:pPr>
            <a:r>
              <a:t>7. Revenue by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Regional revenue aggregation from the notebook</a:t>
            </a:r>
          </a:p>
        </p:txBody>
      </p:sp>
      <p:pic>
        <p:nvPicPr>
          <p:cNvPr id="4" name="Picture 3" descr="region_revenue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29868"/>
            <a:ext cx="10515600" cy="4416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56692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D2D2D"/>
                </a:solidFill>
              </a:defRPr>
            </a:pPr>
            <a:r>
              <a:t>Kolkata leads revenue (100,534.03). The results also reveal inconsistent city labels that should be standardized before regional comparisons.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607040" y="6547104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414"/>
                </a:solidFill>
              </a:defRPr>
            </a:pPr>
            <a:r>
              <a:t>8. Sales Channel &amp; Product-Line Profit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Channel mix visualization plus profit aggregation</a:t>
            </a:r>
          </a:p>
        </p:txBody>
      </p:sp>
      <p:pic>
        <p:nvPicPr>
          <p:cNvPr id="4" name="Picture 3" descr="channel_distribution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43000"/>
            <a:ext cx="4937760" cy="516068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97880" y="1325880"/>
          <a:ext cx="52120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Product Line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Profit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Soccer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48,098.18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Basketball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42,415.01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Running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28,077.19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Lifestyle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27,101.28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D2D2D"/>
                          </a:solidFill>
                        </a:defRPr>
                      </a:pPr>
                      <a:r>
                        <a:t>19,289.20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97880" y="5074920"/>
            <a:ext cx="5212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D2D2D"/>
                </a:solidFill>
              </a:defRPr>
            </a:pPr>
            <a:r>
              <a:t>Soccer generates the highest product-line profit (48,098.18).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0" y="6547104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1414"/>
                </a:solidFill>
              </a:defRPr>
            </a:pPr>
            <a:r>
              <a:t>9. Relationship Analysis &amp; Outliers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6969"/>
                </a:solidFill>
              </a:defRPr>
            </a:pPr>
            <a:r>
              <a:t>Two additional diagnostic visuals included in the notebook</a:t>
            </a:r>
          </a:p>
        </p:txBody>
      </p:sp>
      <p:pic>
        <p:nvPicPr>
          <p:cNvPr id="4" name="Picture 3" descr="correlation_matrix_ac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5577840" cy="4295976"/>
          </a:xfrm>
          <a:prstGeom prst="rect">
            <a:avLst/>
          </a:prstGeom>
        </p:spPr>
      </p:pic>
      <p:pic>
        <p:nvPicPr>
          <p:cNvPr id="5" name="Picture 4" descr="revenue_outliers_ac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43000"/>
            <a:ext cx="5394960" cy="42738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62356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2D2D2D"/>
                </a:solidFill>
              </a:defRPr>
            </a:pPr>
            <a:r>
              <a:t>Correlation heatmap: MRP, Units Sold, Revenue and Profit.  |  Box plot: identifies unusual Revenue observations.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D2D2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07040" y="6547104"/>
            <a:ext cx="10058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C30BD5-AB65-7F3B-C3AF-6B6549BF6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7" y="391886"/>
            <a:ext cx="11005457" cy="612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790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588</Words>
  <Application>Microsoft Office PowerPoint</Application>
  <PresentationFormat>Widescreen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modalavalasa anjali</dc:creator>
  <cp:keywords/>
  <dc:description>generated using python-pptx</dc:description>
  <cp:lastModifiedBy>modalavalasa anjali</cp:lastModifiedBy>
  <cp:revision>2</cp:revision>
  <dcterms:created xsi:type="dcterms:W3CDTF">2013-01-27T09:14:16Z</dcterms:created>
  <dcterms:modified xsi:type="dcterms:W3CDTF">2026-08-12T05:09:37Z</dcterms:modified>
  <cp:category/>
</cp:coreProperties>
</file>